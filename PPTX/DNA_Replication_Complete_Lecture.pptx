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universality of DNA replication across all domains of life.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Meselson-Stahl experiment is a frequently tested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generation prediction before showing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component systematically.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exam question: Both strands are 5'→3'. The lagging strand is NOT 3'→5'.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 regions and their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role of ATP in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showing the molecular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concept: Licensing and firing are mutually exclusive.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ATP requirement at multiple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key differences from the prokaryotic fork.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Pol α starts the race (lays primer), then hands off to Pol ε/δ (the marathon runners).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each layer provides ~100-fold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telomerase uses RNA as template for DNA 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pathway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14500"/>
            <a:ext cx="10972800" cy="34290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DNA Replication in Prokaryotes and Eukaryotes</a:t>
            </a:r>
            <a:endParaRPr lang="en-US" sz="3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Complete Molecular Biology Teaching Module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1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Introduction and Fundamentals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Why DNA Replication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Every cell division requires complete genome duplication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Ensures genetic information is passed to daughter cells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Errors can lead to: cell death, cancer, genetic disease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One of the most fundamental processes in biology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Evolutionary conservation across all life forms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The Central Dogma and Replication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DNA → RNA → Protein (central dogma)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DNA replication precedes transcription and translation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Replication is semi-discontinuous (leading + lagging strands)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Requires: template, primers, polymerase, dNTPs, energy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All organisms use semiconservative replication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Historical 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1953: Watson &amp; Crick — DNA double helix structure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1958: Meselson &amp; Stahl — Semiconservative replication proven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1968: Okazaki — Discovery of Okazaki fragments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1970s: Kornberg — DNA polymerase purification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1985: Greider &amp; Blackburn — Telomerase discovery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2009: Nobel Prize — Blackburn, Greider, Szostak (telomere biology)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Meselson-Stahl Experiment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MESONSELSON-STAHL EXPERIMENT (1958)
====================================
Growth in ¹⁵N (heavy) medium → All DNA heavy
Transfer to ¹⁴N (light) medium
Gen 0:  ━━━━━━━━━ (heavy band, bottom)
Gen 1:  ━━━━━━━━━ (hybrid band, middle)  
Gen 2:  ━━━━━━━━━ (hybrid + light bands)
Gen 3:  ━━━━━━━━━ (hybrid + light bands, light thicker)
Three models:
• Conservative: Original stays together → REJECTED
• Semiconservative: One old + one new strand → ACCEPTED ✓
• Dispersive: Mixed old/new in each strand → REJECTED
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2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Core Concepts of DNA Replication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Semiconservative Replication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Each daughter molecule: 1 parental strand + 1 new strand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Template-directed synthesis ensures fidelity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Both strands serve as templates simultaneously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Consistent across all domains of life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Key evidence: Meselson-Stahl density gradient experiment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Requirements for DNA Replication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SUBSTRATES: dNTPs (dATP, dTTP, dGTP, dCTP) — building blocks + energy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TEMPLATE: Parental DNA strands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PRIMER: RNA primer (provides free 3'-OH for polymerase)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ENZYMES: Helicase, primase, DNA polymerase, topoisomerase, ligase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ACCESSORY: Sliding clamp, clamp loader, SSB/RPA proteins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ENERGY: ATP (helicase, topoisomerase, clamp loader) + pyrophosphate release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Replication Fork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                Topoisomerase (relieves supercoiling)
                         ↓
    ←═══════════════════════════════════
                Helicase (unwinds DNA)
                         ↓
         ┌──── Replication Fork ────┐
         │                          │
    Leading Strand          Lagging Strand
    (continuous)            (discontinuous)
    5'→3' toward fork       5'→3' away from fork
    [Pol III + β clamp]     [Okazaki fragments]
    One primer              Multiple primers
    ←═══════════════════════════→
                Direction of fork movement →
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Leading vs. Lagging Strand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LEADING STRAND: Synthesized continuously toward the fork (5'→3')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LAGGING STRAND: Synthesized discontinuously away from the fork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Okazaki fragments: 1-2 kb (E. coli), 100-200 nt (eukaryotes)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BOTH strands are synthesized 5'→3' — this is universal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Lagging strand discontinuity is due to antiparallel DNA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Central Rule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DNA is ALWAYS synthesized in the 5'→3' direction.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No known exception in any organism.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3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Prokaryotic DNA Replication — E. coli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E. coli Genome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Circular chromosome: 4,641,652 bp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Single origin of replication: oriC (245 bp)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Two bidirectional replication forks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Replication time: ~40 minutes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Fork speed: ~1,000 nucleotides/second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Okazaki fragments: 1,000-2,000 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~4,300 genes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oriC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oriC — E. coli ORIGIN OF REPLICATION (245 bp)
================================================
Region 1: AT-RICH 13-MER REPEATS (easily melted)
┌────────────────────────────────────────────────┐
│  13-mer    13-mer    13-mer                    │
│  (A-T pairs: only 2 H-bonds → easier to melt) │
└────────────────────────────────────────────────┘
Region 2: 9-MER REPEATS (DnaA boxes)
┌────────────────────────────────────────────────┐
│  R1    R2    R3    R4    R5                    │
│  High  High  Low   High  High affinity         │
│  affinity affinity affinity                    │
└────────────────────────────────────────────────┘
Key features:
• DnaA boxes: GATCTNTTNTTNCAG (consensus)
• R3 has lower affinity → only bound when enough DnaA-ATP
• Cooperative binding → helical filament formation
• Positive supercoiling → AT-rich region melts
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Initiation — Step by Step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1. DnaA-ATP accumulates (active initiator form)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2. DnaA binds DnaA boxes (R1-R5) cooperatively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3. Positive supercoiling induced → AT-rich 13-mers melt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4. DnaC loads DnaB helicase onto each strand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5. DnaC dissociates (ATP-dependent)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6. Two DnaB hexamers → bidirectional forks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The E. coli Replisome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DnaB helicase: Unwinds DNA (5'→3' direction)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DnaG primase: Synthesizes RNA primers (10-12 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Pol III holoenzyme: Two core complexes (one per strand)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β sliding clamp: Processivity factor (homodimer)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γ complex (clamp loader): Loads β clamp (ATP-dependent)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SSB proteins: Stabilize single-stranded DNA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Pol III Core Subunits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8700"/>
          <a:ext cx="11460480" cy="914400"/>
        </p:xfrm>
        <a:graphic>
          <a:graphicData uri="http://schemas.openxmlformats.org/drawingml/2006/table">
            <a:tbl>
              <a:tblPr/>
              <a:tblGrid>
                <a:gridCol w="2865120"/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Subunit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Important Notes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α (alpha)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dnaE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DNA polymerase (5'→3' synthesis)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No proofreading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ε (epsilon)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dnaQ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3'→5' exonuclease (proofreading)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Essential for fidelity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θ (theta)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Stimulates ε activity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Structural role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τ (tau)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dnaX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Dimerizes cores, connects to helicase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Coordinates leading/lagging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Okazaki Fragment 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OKAZAKI FRAGMENT PROCESSING IN E. coli
========================================
Lagging strand template: 3'═══════════════════════→5'
Step 1: Pol III synthesizes Okazaki fragment
        5'─[RNA 10nt]─[DNA ~1500nt]─3'
Step 2: Pol III reaches previous fragment
        → Polymerase releases (collision)
Step 3: Pol I binds at nick
        → 5'→3' exonuclease removes RNA primer
        → Polymerase fills gap with DNA (nick translation)
Step 4: DNA ligase seals nick (NAD⁺-dependent)
Result: Continuous lagging strand
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Termination in E. coli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Forks converge in Ter region (opposite oriC)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Tus/Ter system: Polar fork trap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Tus binds Ter sequences → blocks fork in one direction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Multiple Ter sites ensure both forks are trapped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Catenanes form (interlinked daughter chromosomes)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Topoisomerase IV decatenates daughter chromosomes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FtsK helps chromosome segregation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E. coli Replication Summary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Single origin → Bidirectional forks → Pol III holoenzyme → Leading (continuous) + Lagging (Okazaki) → Pol I removes primers → Ligase seals → Tus/Ter termination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4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Eukaryotic DNA Replication — Human Cells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Eukaryotic Replication Complexity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Genome: 3.2 × 10⁹ bp (700× larger than E. coli)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46 linear chromosomes (vs. 1 circular)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30,000-50,000 origins (vs. 1 in E. coli)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Replication time: 6-8 hours (S phase)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Fork speed: ~50 nt/s (20× slower than E. coli)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Chromatin packaging: Nucleosomes must be disassembled/reassembled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Telomeres required for linear chromosome ends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Replication Licensing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LICENSING (G1 phase, low CDK):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ORC binds origins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Cdc6 + Cdt1 recruited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MCM2-7 double hexamers loaded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Origin is "licensed" (pre-RC assembled)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ACTIVATION (S phase, high CDK):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CDK + DDK phosphorylate MCM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Cdc45 + GINS loaded → CMG helicase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Origins FIRE → replication begins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No new licensing possible (CDK prevents it)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Pre-Replication Complex Assembly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PRE-RC ASSEMBLY (G1 Phase)
==========================
Step 1: ORC binds origin DNA (ATP-dependent)
        [Orc1-6 complex]
Step 2: Cdc6 binds ORC (ATP-dependent)
        [ORC-Cdc6 complex]
Step 3: Cdt1 recruits MCM2-7
        [ORC-Cdc6-Cdt1-MCM]
Step 4: MCM2-7 loaded onto DNA (ATP hydrolysis)
        [Double hexamer formed]
Step 5: Cdc6 released, Cdt1 inhibited (by geminin in S)
        [Licensed origin — ready to fire]
Note: Each origin loaded with 4-5 MCM double hexamers
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The CMG Helicase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CMG = Cdc45 + MCM2-7 + GINS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Active replicative helicase in eukaryotes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MCM2-7 loaded INACTIVE at origins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Activated by CDK + DDK phosphorylation in S phase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Unwinds DNA in 5'→3' direction (on lagging strand template)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Highly processive — can unwind &gt;10 kb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Disassembled at termination by p97/Cdc48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Eukaryotic DNA Polymerases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8700"/>
          <a:ext cx="11460480" cy="914400"/>
        </p:xfrm>
        <a:graphic>
          <a:graphicData uri="http://schemas.openxmlformats.org/drawingml/2006/table">
            <a:tbl>
              <a:tblPr/>
              <a:tblGrid>
                <a:gridCol w="2292096"/>
                <a:gridCol w="2292096"/>
                <a:gridCol w="2292096"/>
                <a:gridCol w="2292096"/>
                <a:gridCol w="229209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Polymerase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Proofreading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Processivity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α/primase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Initiates synthesis; makes RNA-DNA primer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Nucleus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Leading strand synthesis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Nucleus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YES (3'→5' exo)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High (with PCNA)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Lagging strand + repair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Nucleus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YES (3'→5' exo)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High (with PCNA)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γ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Mitochondrial DNA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Mitochondria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η, κ, ι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Translesion synthesis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Nucleus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Varies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Eukaryotic Replication Fork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EUKARYOTIC REPLICATION FORK
=============================
Direction of fork movement →
         CMG Helicase
    (Cdc45-MCM2-7-GINS)
         │
    ═════╪═══════════════════
    ← Unwinding →
         │
    ╱    │    ╲
   ╱  RPA     ╲
  ╱  (ssDNA)   ╲
 ╱               ╲
LEADING STRAND:
    5'─────────────→3' (template)
    ←3'═══════════════5' (new DNA, continuous)
         Pol ε + PCNA
LAGGING STRAND:
    3'═══════════════→5' (template)
    ←─Frag1─→←─Frag2─→ (Okazaki fragments)
    [Pol α → Pol δ + PCNA]
AFTER:
    RNase H2 + FEN1 → remove RNA
    Pol δ → fill gaps
    DNA Ligase I → seal nicks
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Polymerase Switching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Step 1: Pol α/primase makes RNA-DNA primer (~8-12 nt RNA + ~20 nt DNA)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Step 2: RFC loads PCNA at primer-template junction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Step 3: Pol ε (leading) or Pol δ (lagging) displaces Pol α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Step 4: Processive synthesis begins on the new polymerase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Why switch? Pol α has NO proofreading → low fidelity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Pol ε/δ have proofreading → high fidelity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Chromatin Remodeling During Replication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DNA is packaged into nucleosomes (histones + DNA)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Nucleosomes must be disassembled ahead of the fork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FACT complex: Facilitates nucleosome disassembly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CAF-1: Deposits new H3-H4 tetramers behind the fork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ASF1: Histone chaperone for H3-H4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Parental histones are recycled (maintain epigenetic marks)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New histones fill gaps → epigenetic inheritance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Eukaryotic Replication Summary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Multiple origins → Licensing in G1 → CMG activation in S → Pol α initiates → Pol ε (leading) + Pol δ (lagging) → Chromatin reassembled → Telomeres maintained by telomerase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5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Replication Fidelity and Repair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Three Layers of Replication Fidelity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REPLICATION FIDELITY — THREE LAYERS
=====================================
Layer 1: BASE SELECTION (Polymerase active site)
─────────────────────────────────────────────────
• Geometric selection of correct Watson-Crick pairs
• Induced-fit mechanism
• Error rate: ~1 in 10⁵ (10⁻⁵)
Layer 2: PROOFREADING (3'→5' exonuclease)
─────────────────────────────────────────────────
• Polymerase stalls at mismatch
• DNA transfers to exonuclease site
• Incorrect nucleotide excised
• Error rate improves: ~1 in 10⁷ (10⁻⁷)
Layer 3: MISMATCH REPAIR (post-replicative)
─────────────────────────────────────────────────
• MutS/MutL/MutH (E. coli) or MSH/MLH (eukaryotes)
• Recognizes mismatch after replication
• Degrades new strand, resynthesizes
• Final error rate: ~1 in 10⁹–10¹⁰
CUMULATIVE: 10⁻⁵ × 10⁻² × 10⁻² = 10⁻⁹
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Mismatch Repair: E. coli vs. Eukaryotes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8700"/>
          <a:ext cx="11460480" cy="914400"/>
        </p:xfrm>
        <a:graphic>
          <a:graphicData uri="http://schemas.openxmlformats.org/drawingml/2006/table">
            <a:tbl>
              <a:tblPr/>
              <a:tblGrid>
                <a:gridCol w="3820160"/>
                <a:gridCol w="3820160"/>
                <a:gridCol w="382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E. coli (MutHLS)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Eukaryotes (MutSα/MutLα)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MutS equivalent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MutS homodimer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MSH2-MSH6 (MutSα)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MutL equivalent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MutL homodimer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MLH1-PMS2 (MutLα)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Strand discrimination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Dam methylation (GATC)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Strand nicks (Okazaki ends)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Endonuclease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MutH (nicks unmethylated)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MutLα (nicks nicked strand)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Exonuclease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ExoI, VII, X, RecJ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EXO1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Helicase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UvrD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Not fully defined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Clinical Significance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Defective mismatch repair → Lynch syndrome (HNPCC)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MSI-High tumors → Responsive to anti-PD-1 immunotherapy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6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Telomeres and Telomerase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The End-Replication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Linear chromosomes cannot be fully replicated at 5' ends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RNA primer at lagging strand terminus is removed → gap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No upstream 3'-OH available to fill the gap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Result: Progressive shortening (~50-200 bp/division in humans)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Eventually: Critical length → Senescence or apoptosis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Solution: Telomeres (repetitive DNA buffer) + Telomerase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Telomerase Mechanism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TELOMERASE MECHANISM
=====================
Components:
• TERT (Telomerase Reverse Transcriptase) — protein
• TR/TERC (Telomerase RNA) — contains template
Template in TERC: 3'-CAAUCCCAAUC-5'
Mechanism:
Step 1: Telomerase binds 3' overhang
Step 2: Template aligns with telomere end
        Telomere:  5'-TTAGGG-3'
                   |||||||
        Template:  3'-CAAUCCC-5'
Step 3: TERT reverse transcribes template
        → Adds TTAGGG repeats to 3' end
Step 4: Translocation → repeat cycle
Step 5: Complementary strand filled by Pol α/Pol δ
        → Maintains 3' overhang
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Telomeres in Disease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AGING: Telomere shortening → Hayflick limit → senescence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DYSKERATOSIS CONGENITA: TERT/TERC mutations → very short telomeres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CANCER: 85-90% reactivate telomerase (TERT promoter mutations)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ALT: 10-10% use homologous recombination (ALT pathway)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THERAPEUTY: Telomerase inhibitors (imetelstat) for cancer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BIOMARKER: Telomere length measured in clinical diagnostics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Telomere Biology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Telomerase = TERT + TERC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Template: CAAUCCCAAUC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Cancer: 85-90% telomerase+, 10-15% ALT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Aging: Short telomeres → Senescence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7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Replication Stress and Checkpoints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What is Replication Stress?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Any condition that slows or blocks replication fork progression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CAUSES: DNA damage, nucleotide depletion, R-loops,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transcription-replication conflicts, secondary structures,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oncogene activation, common fragile sites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CONSEQUENCES: Fork stalling, fork collapse (DSBs),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genome instability, chromosomal rearrangements, cancer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ATR-CHK1 Checkpoint Pathway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972800" cy="51435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ATR-CHK1 CHECKPOINT PATHWAY
============================
1. STALLING EVENT
   Fork stops → ssDNA exposed → RPA binds
2. SENSOR
   ATRIP binds RPA-ssDNA → Recruits ATR kinase
3. ACTIVATION
   TopBP1 activates ATR
   → ATR phosphorylates hundreds of substrates
4. SIGNALING
   ATR phosphorylates CHK1 (effector kinase)
5. EFFECTOR RESPONSES
   ├→ Stabilize stalled forks (prevent collapse)
   ├→ Suppress new origin firing (within S phase)
   ├→ Delay S/M transition
   ├→ Activate DNA repair pathways
   └→ Slow cell-cycle progression
6. RESOLUTION
   Stress resolved → ATR/CHK1 deactivated → Resume
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Replication Stress in Cancer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Oncogene activation → Excessive origin firing → Replication stress → Genome instability → Cancer progression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8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Prokaryote vs. Eukaryote Comparison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Comprehensive Replication Comparison</a:t>
            </a:r>
            <a:endParaRPr lang="en-US" sz="2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28700"/>
          <a:ext cx="11460480" cy="914400"/>
        </p:xfrm>
        <a:graphic>
          <a:graphicData uri="http://schemas.openxmlformats.org/drawingml/2006/table">
            <a:tbl>
              <a:tblPr/>
              <a:tblGrid>
                <a:gridCol w="3820160"/>
                <a:gridCol w="3820160"/>
                <a:gridCol w="382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Prokaryotes (E. coli)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Eukaryotes (Human)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Genome size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4.6 × 10⁶ bp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3.2 × 10⁹ bp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Chromosome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 (circular)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46 (linear)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Origins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 (oriC)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30,000-50,000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Helicase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DnaB (3'→5')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CMG (5'→3')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Sliding clamp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β₂ (dimer)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PCNA (trimer)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Leading Pol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III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ε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Lagging Pol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III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Pol δ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Okazaki size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1-2 kb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100-200 bp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Fork speed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1,000 nt/s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50 nt/s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Telomeres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Licensing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Pre-RC (ORC/Cdc6/Cdt1/MCM)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MMR discrimination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Dam methylation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Strand nicks/PCNA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Termination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Tus/Ter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Fork convergence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8C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9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Experimental Methods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Methods to Study Replication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IN VITRO RECONSTITUTION: Purified proteins + DNA template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DNA FIBER ANALYSIS: IdU/CldU labeling → fork dynamics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OKAZAKI FRAGMENT ANALYSIS: Denaturing gels → fragment size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REPLI-SEQ: FACS + sequencing → replication timing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ChIP-seq: Protein-DNA interactions (ORC, MCM, PCNA)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FLUORESCENCE MICROSCOPY: Replication foci in live cells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CRISPR/Cas9: Origin deletion, protein tagging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Experimental Design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Always consider: What question? What method? What controls?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In vitro = mechanistic detail; In vivo = physiological relevance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10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Analysis and Bioinformatics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Bioinformatics Approaches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ORIGIN PREDICTION: GC-skew analysis, DnaA box searching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REPLICATION TIMING: Repli-seq data analysis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FIBER DATA: Track length measurement → fork speed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SEQUENCE ANALYSIS: Primer design, ORF identification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PROTEIN COMPARISON: BLAST, domain analysis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MUTATION ANALYSIS: Consequence prediction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GENOME-WIDE: Origin mapping, replication timing profiles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11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Clinical and Biotechnology Applications</a:t>
            </a:r>
            <a:endParaRPr lang="en-US"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Drugs Targeting Replication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FLUOROQUINOLONES (Ciprofloxacin): Trap DNA gyrase → bacterial DSBs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RIFAMPICIN: Blocks RNA polymerase → affects initiation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PARP INHIBITORS (Olaparib): Synthetic lethality in BRCA-mutant cancers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ATR INHIBITORS (Ceralasertib): Sensitize to replication stress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NUCLEOSIDE ANALOGS (Acyclovir, AZT): Chain termination in viral replication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ANTIMETABOLITES (5-FU, Gemcitabine): Deplete dNTP pools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Replication and Disease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LYNCH SYNDROME: MMR gene mutations → MSI → cancer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DYSKERATOSIS CONGENITA: Telomere maintenance defects → aging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FANCONI ANEMIA: Interstrand crosslink repair defect → bone marrow failure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BLOOM SYNDROME: BLM helicase mutation → genome instability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CANCER: Oncogene-induced replication stress → genome instability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TELOMERES: Short telomeres → aging; Telomerase reactivation → cancer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C1"/>
                </a:solidFill>
              </a:rPr>
              <a:t>Module 12</a:t>
            </a:r>
            <a:endParaRPr lang="en-US" sz="20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Advanced Topics</a:t>
            </a:r>
            <a:endParaRPr 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Replication Fork Dynamics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FORK STALLING: Obstacles block progression → ssDNA accumulates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FORK REVERSAL: New strands anneal → "chicken foot" structure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Protective: allows template switching, lesion bypass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Dangerous: if not resolved → genome instability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FORK COLLAPSE: DSB at fork → requires HR for repair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REPLICATION-TRANSCRIPTION CONFLICTS: R-loops block forks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TRANSLESION SYNTHESIS: TLS polymerases bypass lesions (error-prone)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TEMPLATE SWITCHING: Uses sister chromatid (error-free)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Cancer and Replication Stress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ONCOGENE-INDUCED REPLICATION STRESS: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Excessive origin firing (Ras, Myc)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dNTP pool imbalance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Transcription-replication conflicts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Incomplete licensing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CONSEQUENCES: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Fork stalling and collapse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Double-strand breaks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Chromosomal rearrangements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Common fragile site expression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  • Tumor evolution and drug resistance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028700"/>
            <a:ext cx="10972800" cy="48006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</a:rPr>
              <a:t>KEY TAKEAWAY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Bigger Picture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DNA replication is fundamental to life, disease, and therapy.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CF0F1"/>
                </a:solidFill>
              </a:rPr>
              <a:t>Understanding mechanisms → Better diagnostics and treatments.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Course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FOUNDATIONS: Semiconservative replication, directionality, requirements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PROKARYOTIC: E. coli complete mechanism (oriC → termination)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EUKARYOTIC: Licensing, CMG, polymerase switching, chromatin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FIDELITY: Three layers → proofreading → MMR → 10⁻⁹–10⁻¹⁰ error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TELOMERES: End-replication problem, telomerase, aging, cancer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CHECKPOINTS: ATR-CHK1, replication stress, genome stability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APPLICATIONS: Antibiotics, cancer therapy, diagnostics, biotechnology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ADVANCED: Fork dynamics, R-loops, fragile sites, cancer genomics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57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u="sng" dirty="0">
                <a:solidFill>
                  <a:srgbClr val="1B4F72"/>
                </a:solidFill>
              </a:rPr>
              <a:t>Thank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600" y="1028700"/>
            <a:ext cx="10728960" cy="5143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Questions?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Recommended Textbooks: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Alberts, Molecular Biology of the Cell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Lodish, Molecular Cell Biology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• Watson, Molecular Biology of the Gene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Office Hours: _________________________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</a:rPr>
              <a:t>Email: _________________________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DNA Replication — Complete Lecture Series</dc:title>
  <dc:subject>DNA Replication in Prokaryotes and Eukaryotes</dc:subject>
  <dc:creator>Molecular Biology Course</dc:creator>
  <cp:lastModifiedBy>Molecular Biology Course</cp:lastModifiedBy>
  <cp:revision>1</cp:revision>
  <dcterms:created xsi:type="dcterms:W3CDTF">2026-08-19T21:38:28Z</dcterms:created>
  <dcterms:modified xsi:type="dcterms:W3CDTF">2026-08-19T21:38:28Z</dcterms:modified>
</cp:coreProperties>
</file>